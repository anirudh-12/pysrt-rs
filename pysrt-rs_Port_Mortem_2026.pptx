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64592" cy="365760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 b="1">
                <a:solidFill>
                  <a:srgbClr val="FF8A3D"/>
                </a:solidFill>
                <a:latin typeface="Arial"/>
              </a:defRPr>
            </a:pPr>
            <a:r>
              <a:t>PORT MORTEM 2026  •  HACKATHON SUBMISSION  •  TRACK D</a:t>
            </a:r>
          </a:p>
          <a:p>
            <a:pPr>
              <a:spcAft>
                <a:spcPts val="1000"/>
              </a:spcAft>
              <a:defRPr sz="5400" b="1">
                <a:solidFill>
                  <a:srgbClr val="F3F4F6"/>
                </a:solidFill>
                <a:latin typeface="Arial"/>
              </a:defRPr>
            </a:pPr>
            <a:r>
              <a:t>pysrt-rs</a:t>
            </a:r>
          </a:p>
          <a:p>
            <a:pPr>
              <a:spcAft>
                <a:spcPts val="4000"/>
              </a:spcAft>
              <a:defRPr sz="2200">
                <a:solidFill>
                  <a:srgbClr val="A0A6B8"/>
                </a:solidFill>
                <a:latin typeface="Arial"/>
              </a:defRPr>
            </a:pPr>
            <a:r>
              <a:t>Porting pysrt from Python to High-Performance, Memory-Safe Rust</a:t>
            </a:r>
          </a:p>
          <a:p>
            <a:pPr>
              <a:spcAft>
                <a:spcPts val="6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Author: K. Anirudh Reddy</a:t>
            </a:r>
          </a:p>
          <a:p>
            <a:pPr>
              <a:defRPr sz="1400">
                <a:solidFill>
                  <a:srgbClr val="FF8A3D"/>
                </a:solidFill>
                <a:latin typeface="Arial"/>
              </a:defRPr>
            </a:pPr>
            <a:r>
              <a:t>Repository: https://github.com/Anirudh-12/pysrt-rs   |   Upstream: https://github.com/byroot/pysrt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Project Overview: Why Port pysrt to Rust?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2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8A3D"/>
                </a:solidFill>
              </a:defRPr>
            </a:pPr>
            <a:r>
              <a:t>WHAT IS PYSRT?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Industry-Standard Python Library: Created by @byroot (byroot/pysrt) for SubRip (.srt) parsing, editing, and serialization.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Core Subtitle Workflows: Manages timestamps, subtitle blocks, text formatting tags, positioning coordinates, and time-shifting.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Standalone Utility: Widely deployed in video encoding pipelines, NLP datasets, and accessibility captioning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37560" cy="448056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8A3D"/>
                </a:solidFill>
              </a:defRPr>
            </a:pPr>
            <a:r>
              <a:t>WHAT PROBLEMS IT SOLVES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Heterogeneous Encodings: Automatically decodes UTF-8, UTF-8-sig (BOM), UTF-16 LE/BE, and legacy encodings.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Temporal Synchronization: Precise millisecond time shifting, frame-rate (FPS) conversions, and duration calculations.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EOL &amp; Formatting Consistency: Normalizes CRLF / LF line endings and calculates reading speed (Characters Per Second - CPS).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37560" cy="448056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73736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8A3D"/>
                </a:solidFill>
              </a:defRPr>
            </a:pPr>
            <a:r>
              <a:t>WHY RUST IS THE TARGET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Guaranteed Memory Safety: #![forbid(unsafe_code)] in core crate; zero GC pauses or heap fragmentation.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Zero-Copy Parsing: High-speed str / byte slice scanners replace expensive Python regular expression matching.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Dual Architecture: Exports both an instant-startup CLI binary (srt) and a Python extension bridge (libsrt via PyO3).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Engineering Goals for the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3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1. 100% Behavioral Equivalence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Bug-for-bug parity with original Python semantics across 75 integration tests.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Verified against 7,000 differential fuzzing cases (fuzz/diff_fuzz.py) with 0 divergences.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Identical string representation, timestamp arithmetic, and tag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2. Guaranteed Memory Safety &amp; #![forbid(unsafe_code)]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Core library crate (src/lib.rs, time.rs, item.rs, file.rs) contains zero unsafe blocks.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Eliminates undefined behavior, null pointer dereferences, and buffer overflows.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Earned the +5 Zero Unsafe bonus in Port Mortem hackathon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3. Strong Typing &amp; Invariant Protection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Normalized scalar integer (i64 ms ordinal) replaces mutable 4-field datetime objects.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Strongly typed Coordinates struct replaces unstructured Python X1:Y1 dictionaries.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Monadic Result&lt;T, SrtError&gt; makes failure modes explicit in the type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88620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4. Architectural Maintainability &amp; Performance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Clear separation of concerns: core parsing, CLI binary, and optional PyO3 FFI bridge.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10 architectural decision records documented in DECISIONS.md.</a:t>
            </a:r>
          </a:p>
          <a:p>
            <a:pPr>
              <a:spcAft>
                <a:spcPts val="600"/>
              </a:spcAft>
              <a:defRPr sz="1300">
                <a:solidFill>
                  <a:srgbClr val="F3F4F6"/>
                </a:solidFill>
              </a:defRPr>
            </a:pPr>
            <a:r>
              <a:t>• Zero-copy byte/str slice scanning delivers up to 22.0× parse speedup.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System Architecture: SubRip Pipeline &amp; Dual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4 of 9</a:t>
            </a:r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591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Technical Challenges &amp; Architectural Decisions (DECISIONS.md)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5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8A3D"/>
                </a:solidFill>
              </a:defRPr>
            </a:pPr>
            <a:r>
              <a:t>Dynamic Typing → Static Typing (DECISIONS.md §2, §9)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Challenge: Upstream used unstructured dictionaries for subtitle positioning coordinates (X1: ... Y1: ...) and stringly-typed error modes ('ERROR_PASS', 'ERROR_LOG').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Solution: Built a strongly typed Coordinates struct and an explicit ErrorHandling enum. Python error modes are cleanly mapped at the PyO3 FFI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8A3D"/>
                </a:solidFill>
              </a:defRPr>
            </a:pPr>
            <a:r>
              <a:t>Time Representation &amp; Invariants (DECISIONS.md §1)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Challenge: Upstream SubRipTime stored mutable hours, minutes, seconds, and milliseconds, allowing invalid states (e.g., negative ms or seconds &gt; 59).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Solution: Stored time as a single normalized scalar integer (i64 total milliseconds ordinal). Property accessors are computed on demand; arithmetic is O(1).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8A3D"/>
                </a:solidFill>
              </a:defRPr>
            </a:pPr>
            <a:r>
              <a:t>Zero-Copy Parsing &amp; Encoding Edge Cases (DECISIONS.md §3, §4, §8)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Challenge: Python relied on regular expressions (re) and slow heuristic character detection (chardet) with unpredictable EOL behavior.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Solution: Built custom zero-copy slice scanners without regex engines. Integrated Mozilla's encoding_rs for SIMD-accelerated, WHATWG-compliant BOM stripping.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88620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8A3D"/>
                </a:solidFill>
              </a:defRPr>
            </a:pPr>
            <a:r>
              <a:t>Ownership, Borrowing &amp; Zero Unsafe (DECISIONS.md §5, §7)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Challenge: Porting a GC-managed Python object graph to safe Rust without reference cycles while maintaining unmodified Python test compatibility.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Solution: SubRipItem owns text (String) while SubRipTime is Copy. Isolated all FFI glue inside PyO3 macros (src/python/mod.rs); 0 unsafe blocks in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Validation, Test Suite Fidelity &amp; Correctness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6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1463040"/>
          </a:xfrm>
          <a:prstGeom prst="roundRect">
            <a:avLst/>
          </a:prstGeom>
          <a:solidFill>
            <a:srgbClr val="262934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8A3D"/>
                </a:solidFill>
              </a:defRPr>
            </a:pPr>
            <a:r>
              <a:t>CRITICAL ENGINEERING VALIDATION NOTE:</a:t>
            </a:r>
          </a:p>
          <a:p>
            <a:pPr>
              <a:lnSpc>
                <a:spcPct val="125000"/>
              </a:lnSpc>
              <a:defRPr sz="1350" i="1">
                <a:solidFill>
                  <a:srgbClr val="F3F4F6"/>
                </a:solidFill>
              </a:defRPr>
            </a:pPr>
            <a:r>
              <a:t>"During validation, an issue was discovered in the upstream project's test suite. The original upstream repository also fails this particular test because of a bug in the test itself. Rather than reproducing an incorrect test expectation, the test was corrected to reflect the intended behavior while preserving the library's functionality."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166360" cy="283464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800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 b="1">
                <a:solidFill>
                  <a:srgbClr val="F3F4F6"/>
                </a:solidFill>
                <a:latin typeface="Arial"/>
              </a:defRPr>
            </a:pPr>
            <a:r>
              <a:t>• Specific Test File: tests/test_srtfile.py -&gt; TestSerialization::test_save.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F3F4F6"/>
                </a:solidFill>
                <a:latin typeface="Arial"/>
              </a:defRPr>
            </a:pPr>
            <a:r>
              <a:t>• Root Cause of Assertion Failure: test_save saves a file with eol='\n' and compares byte-for-byte against static reference fixture tests/static/utf-8.srt.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F3F4F6"/>
                </a:solidFill>
                <a:latin typeface="Arial"/>
              </a:defRPr>
            </a:pPr>
            <a:r>
              <a:t>• CRLF Mismatch: The static fixture utf-8.srt in upstream was committed with Windows CRLF ('\r\n'), making b'0\n...' == b'0\r\n...' impossible.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F3F4F6"/>
                </a:solidFill>
                <a:latin typeface="Arial"/>
              </a:defRPr>
            </a:pPr>
            <a:r>
              <a:t>• Important Clarification: The issue is purely with the test fixture expectation, NOT the library implementation. The unmodified upstream Python library fails this exact test under Python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246120"/>
            <a:ext cx="5166360" cy="283464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3429000"/>
            <a:ext cx="4800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 b="1">
                <a:solidFill>
                  <a:srgbClr val="F3F4F6"/>
                </a:solidFill>
                <a:latin typeface="Arial"/>
              </a:defRPr>
            </a:pPr>
            <a:r>
              <a:t>• Unmodified Upstream Suite (tests/original/): Exactly 74 / 75 tests pass (test_srttime 21/21, test_srtitem 18/18, test_srtfile 35/36 — 1 fixture bug).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F3F4F6"/>
                </a:solidFill>
                <a:latin typeface="Arial"/>
              </a:defRPr>
            </a:pPr>
            <a:r>
              <a:t>• Corrected Suite (tests/fixed/): 75 / 75 tests pass (100% parity) where test_save is corrected to use eol='\r\n'. Matches upstream reference Python 100%.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F3F4F6"/>
                </a:solidFill>
                <a:latin typeface="Arial"/>
              </a:defRPr>
            </a:pPr>
            <a:r>
              <a:t>• Native Rust Suite (tests/port/): 100% native Rust integration suite ports all 75 tests 1-to-1 (75 / 75 pass) + 9 unit tests across lib.rs &amp; CLI (84 / 84 total pass).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F3F4F6"/>
                </a:solidFill>
                <a:latin typeface="Arial"/>
              </a:defRPr>
            </a:pPr>
            <a:r>
              <a:t>• Zero File Modifications in Original: File SHA-256 hashes are strictly verified in .port-mortem.toml.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Empirical Results: Performance, Parity &amp; Repository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7 of 9</a:t>
            </a:r>
          </a:p>
        </p:txBody>
      </p:sp>
      <p:pic>
        <p:nvPicPr>
          <p:cNvPr id="6" name="Picture 5" descr="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617720"/>
            <a:ext cx="5943600" cy="1508760"/>
          </a:xfrm>
          <a:prstGeom prst="roundRect">
            <a:avLst/>
          </a:prstGeom>
          <a:solidFill>
            <a:srgbClr val="24262E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150" b="1">
                <a:solidFill>
                  <a:srgbClr val="F3F4F6"/>
                </a:solidFill>
                <a:latin typeface="Arial"/>
              </a:defRPr>
            </a:pPr>
            <a:r>
              <a:t>• Up to 22.0× Throughput Speedup: Parses 1,000 subtitles in 0.30 ms vs 6.58 ms for Python.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F3F4F6"/>
                </a:solidFill>
                <a:latin typeface="Arial"/>
              </a:defRPr>
            </a:pPr>
            <a:r>
              <a:t>• 4.8× Faster Timestamp Shifting &amp; 3.4× Faster Serialization across 1,332-item movie subtitles.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F3F4F6"/>
                </a:solidFill>
                <a:latin typeface="Arial"/>
              </a:defRPr>
            </a:pPr>
            <a:r>
              <a:t>• 7,000 / 7,000 Differential Fuzzing Cases Pass: Zero divergence (fuzz/diff_fuzz.py) vs Python.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F3F4F6"/>
                </a:solidFill>
                <a:latin typeface="Arial"/>
              </a:defRPr>
            </a:pPr>
            <a:r>
              <a:t>• 100% Core Build Success: #![forbid(unsafe_code)] enforced across crate root.</a:t>
            </a:r>
          </a:p>
        </p:txBody>
      </p:sp>
      <p:pic>
        <p:nvPicPr>
          <p:cNvPr id="9" name="Picture 8" descr="workflow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3040"/>
            <a:ext cx="459943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Lessons Learned &amp; Engineering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8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1. Data Representation is Everything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Replacing a 4-field mutable datetime object with an 8-byte scalar integer (i64 ms ordinal) eliminated entire classes of invalid time states.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Scalar integer arithmetic made comparison and timestamp arithmetic instantaneous and O(1).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2. Designing Clean FFI Boundaries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Maintaining 100% bug-for-bug compatibility for Python error recovery modes ('ERROR_PASS') required careful separation of concerns.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Explicit ErrorHandling enum and callbacks at the PyO3 layer prevented Python semantics from polluting idiomatic Rust core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3. WHATWG Encoding Standards vs Heuristics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Standardized WHATWG encoding detection (encoding_rs) is vastly superior to heuristic-based character sniffers like chardet.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Handles multi-byte BOM stripping (UTF-8-sig, UTF-16, UTF-32) deterministically without runtime interpreter locks.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886200"/>
            <a:ext cx="5166360" cy="210312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8A3D"/>
                </a:solidFill>
              </a:defRPr>
            </a:pPr>
            <a:r>
              <a:t>4. The Power of Differential Fuzzing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Running 7,000 randomized test cases simultaneously through Rust and Python proved indispensable for verifying behavioral equivalence.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Fuzzing even caught a latent timestamp-overflow bug in the upstream test generator (00:00:99,500) where seconds exceeded 59!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5912" cy="45720"/>
          </a:xfrm>
          <a:prstGeom prst="rect">
            <a:avLst/>
          </a:prstGeom>
          <a:solidFill>
            <a:srgbClr val="E57324"/>
          </a:solidFill>
          <a:ln>
            <a:solidFill>
              <a:srgbClr val="E57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8A3D"/>
                </a:solidFill>
                <a:latin typeface="Arial"/>
              </a:defRPr>
            </a:pPr>
            <a:r>
              <a:t>PORT MORTEM 2026 • TRACK D: PYTHON →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Project Resources, Documentation &amp; Submission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A6B8"/>
                </a:solidFill>
                <a:latin typeface="Arial"/>
              </a:defRPr>
            </a:pPr>
            <a:r>
              <a:t>pysrt-rs: Memory-Safe Rust Port of byroot/pysrt    |    Slide 9 of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3657600"/>
          </a:xfrm>
          <a:prstGeom prst="roundRect">
            <a:avLst/>
          </a:prstGeom>
          <a:solidFill>
            <a:srgbClr val="2E313C"/>
          </a:solidFill>
          <a:ln w="19050">
            <a:solidFill>
              <a:srgbClr val="46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FF8A3D"/>
                </a:solidFill>
              </a:defRPr>
            </a:pPr>
            <a:r>
              <a:t>PORT MORTEM 2026 — TRACK D SUBMISSION REFERENCES</a:t>
            </a:r>
          </a:p>
          <a:p>
            <a:pPr>
              <a:spcAft>
                <a:spcPts val="200"/>
              </a:spcAft>
              <a:defRPr sz="1400" b="1">
                <a:solidFill>
                  <a:srgbClr val="F3F4F6"/>
                </a:solidFill>
              </a:defRPr>
            </a:pPr>
            <a:r>
              <a:t>• pysrt-rs Repository (Rust Port):  </a:t>
            </a:r>
          </a:p>
          <a:p>
            <a:pPr>
              <a:spcAft>
                <a:spcPts val="1200"/>
              </a:spcAft>
              <a:defRPr sz="1250">
                <a:solidFill>
                  <a:srgbClr val="FF8A3D"/>
                </a:solidFill>
              </a:defRPr>
            </a:pPr>
            <a:r>
              <a:t>    https://github.com/Anirudh-12/pysrt-rs — Complete source code, CLI binary (src/bin/srt.rs), and test suites.</a:t>
            </a:r>
          </a:p>
          <a:p>
            <a:pPr>
              <a:spcAft>
                <a:spcPts val="200"/>
              </a:spcAft>
              <a:defRPr sz="1400" b="1">
                <a:solidFill>
                  <a:srgbClr val="F3F4F6"/>
                </a:solidFill>
              </a:defRPr>
            </a:pPr>
            <a:r>
              <a:t>• Original Upstream Repository:  </a:t>
            </a:r>
          </a:p>
          <a:p>
            <a:pPr>
              <a:spcAft>
                <a:spcPts val="1200"/>
              </a:spcAft>
              <a:defRPr sz="1250">
                <a:solidFill>
                  <a:srgbClr val="FF8A3D"/>
                </a:solidFill>
              </a:defRPr>
            </a:pPr>
            <a:r>
              <a:t>    https://github.com/byroot/pysrt — Original pure-Python SubRip library by @byroot.</a:t>
            </a:r>
          </a:p>
          <a:p>
            <a:pPr>
              <a:spcAft>
                <a:spcPts val="200"/>
              </a:spcAft>
              <a:defRPr sz="1400" b="1">
                <a:solidFill>
                  <a:srgbClr val="F3F4F6"/>
                </a:solidFill>
              </a:defRPr>
            </a:pPr>
            <a:r>
              <a:t>• Standalone Rust Library Docs:  </a:t>
            </a:r>
          </a:p>
          <a:p>
            <a:pPr>
              <a:spcAft>
                <a:spcPts val="1200"/>
              </a:spcAft>
              <a:defRPr sz="1250">
                <a:solidFill>
                  <a:srgbClr val="FF8A3D"/>
                </a:solidFill>
              </a:defRPr>
            </a:pPr>
            <a:r>
              <a:t>    RUST_LIBRARY.md (in repository) — Detailed guide for using libsrt as a standalone Rust crate (cdylib &amp; rlib).</a:t>
            </a:r>
          </a:p>
          <a:p>
            <a:pPr>
              <a:spcAft>
                <a:spcPts val="200"/>
              </a:spcAft>
              <a:defRPr sz="1400" b="1">
                <a:solidFill>
                  <a:srgbClr val="F3F4F6"/>
                </a:solidFill>
              </a:defRPr>
            </a:pPr>
            <a:r>
              <a:t>• Architectural Decision Records:  </a:t>
            </a:r>
          </a:p>
          <a:p>
            <a:pPr>
              <a:spcAft>
                <a:spcPts val="1200"/>
              </a:spcAft>
              <a:defRPr sz="1250">
                <a:solidFill>
                  <a:srgbClr val="FF8A3D"/>
                </a:solidFill>
              </a:defRPr>
            </a:pPr>
            <a:r>
              <a:t>    DECISIONS.md (in repository) — 10 comprehensive architectural records detailing Python -&gt; Rust trade-offs.</a:t>
            </a:r>
          </a:p>
          <a:p>
            <a:pPr>
              <a:spcAft>
                <a:spcPts val="200"/>
              </a:spcAft>
              <a:defRPr sz="1400" b="1">
                <a:solidFill>
                  <a:srgbClr val="F3F4F6"/>
                </a:solidFill>
              </a:defRPr>
            </a:pPr>
            <a:r>
              <a:t>• Port Mortem Hackathon Manifest:  </a:t>
            </a:r>
          </a:p>
          <a:p>
            <a:pPr>
              <a:spcAft>
                <a:spcPts val="1200"/>
              </a:spcAft>
              <a:defRPr sz="1250">
                <a:solidFill>
                  <a:srgbClr val="FF8A3D"/>
                </a:solidFill>
              </a:defRPr>
            </a:pPr>
            <a:r>
              <a:t>    .port-mortem.toml (in repository) — Submission metadata, SHA-256 file verification hashes, and bonus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5912" cy="777240"/>
          </a:xfrm>
          <a:prstGeom prst="roundRect">
            <a:avLst/>
          </a:prstGeom>
          <a:solidFill>
            <a:srgbClr val="262934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595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3F4F6"/>
                </a:solidFill>
              </a:defRPr>
            </a:pPr>
            <a:r>
              <a:t>100% NATIVE RUST PARITY   •   22× FASTER PARSING   •   0 UNSAFE CORE   •   7,000 DIFF FUZZ SURVIVOR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